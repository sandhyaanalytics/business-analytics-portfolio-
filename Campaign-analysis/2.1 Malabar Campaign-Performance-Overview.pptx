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2937510"/>
            <a:ext cx="1884759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3011448"/>
            <a:ext cx="158877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CAMPAIGN REPORT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3480316"/>
            <a:ext cx="99414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Campaign Performance Overview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3798" y="455175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comprehensive look at revenue, ROI, channel performance, and geographic contribution across the campaign period — with strategic recommendations for scaling results.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2501622"/>
            <a:ext cx="1394103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413" y="2583180"/>
            <a:ext cx="108287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METRICS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3059668"/>
            <a:ext cx="644652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Campaign at a Glance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3798" y="4254460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58453" y="537733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66592" y="4254460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575K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261247" y="537733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Cost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69386" y="4254460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2.84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564041" y="537733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Overall ROI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2180" y="4254460"/>
            <a:ext cx="2994422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6750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10866953" y="537733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Conversions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386" y="1695450"/>
            <a:ext cx="1531620" cy="342424"/>
          </a:xfrm>
          <a:prstGeom prst="roundRect">
            <a:avLst>
              <a:gd name="adj" fmla="val 6849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10164" y="1761649"/>
            <a:ext cx="1282065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CHANNEL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5386" y="2099667"/>
            <a:ext cx="4441865" cy="55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ROI by Channel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386" y="3060978"/>
            <a:ext cx="5890260" cy="33481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1183" y="3041571"/>
            <a:ext cx="3729871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Channel Performance Summary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61183" y="3473767"/>
            <a:ext cx="5891451" cy="78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Instagram and Facebook lead with the highest ROI at 2.18. YouTube underperforms at 1.25, signaling room for optimization or budget reallocation.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006" y="780693"/>
            <a:ext cx="1805583" cy="421124"/>
          </a:xfrm>
          <a:prstGeom prst="roundRect">
            <a:avLst>
              <a:gd name="adj" fmla="val 6571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2976" y="857488"/>
            <a:ext cx="151364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CHANNEL ANALYSIS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07006" y="1287899"/>
            <a:ext cx="9300448" cy="655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Channel Performance Breakdown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807006" y="2266117"/>
            <a:ext cx="13016389" cy="4271605"/>
          </a:xfrm>
          <a:prstGeom prst="roundRect">
            <a:avLst>
              <a:gd name="adj" fmla="val 81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626" y="2273737"/>
            <a:ext cx="13001149" cy="608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5131" y="2410539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Channel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9228" y="2410539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CTR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49515" y="2410539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Conv. 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99802" y="2410539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ROI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626" y="2881789"/>
            <a:ext cx="13001149" cy="608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5131" y="3018592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Facebook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9228" y="3018592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9515" y="3018592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9802" y="3018592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2.18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626" y="3489841"/>
            <a:ext cx="13001149" cy="608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5131" y="3626644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Ads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9228" y="3626644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49515" y="3626644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99802" y="3626644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1.95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4626" y="4097893"/>
            <a:ext cx="13001149" cy="608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5131" y="4234696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9228" y="4234696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9515" y="4234696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99802" y="4234696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2.20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4626" y="4705945"/>
            <a:ext cx="13001149" cy="608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45131" y="4842748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LinkedIn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99228" y="4842748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49515" y="4842748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0.13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99802" y="4842748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2.06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4626" y="5313998"/>
            <a:ext cx="13001149" cy="608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45131" y="5450800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YouTube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299228" y="5450800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49515" y="5450800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99802" y="5450800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1.25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14626" y="5922050"/>
            <a:ext cx="13001149" cy="608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45131" y="6058853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299228" y="6058853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49515" y="6058853"/>
            <a:ext cx="278165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799802" y="6058853"/>
            <a:ext cx="27854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1.92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07006" y="6780014"/>
            <a:ext cx="13016389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LinkedIn stands out with the highest conversion rate (0.13) despite lower CTR — a strong intent-driven channel. YouTube has the lowest conversion rate (0.07) and ROI (1.25).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623" y="1690926"/>
            <a:ext cx="2156936" cy="343138"/>
          </a:xfrm>
          <a:prstGeom prst="roundRect">
            <a:avLst>
              <a:gd name="adj" fmla="val 6846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0639" y="1757243"/>
            <a:ext cx="190690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GEOGRAPHIC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75623" y="2096095"/>
            <a:ext cx="7386638" cy="55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City-wise Revenue Contribution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623" y="3059549"/>
            <a:ext cx="5897880" cy="3352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1540" y="3040142"/>
            <a:ext cx="2620208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Geographic Highlights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61540" y="3473291"/>
            <a:ext cx="5900857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four cities — Kochi, Kozhikode, Thrissur, and Trivandrum — show strong revenue contribution. </a:t>
            </a:r>
            <a:pPr algn="l" indent="0" marL="0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Kochi leads</a:t>
            </a:r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 the highest-revenue city and should be the primary geo-targeting focus.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61540" y="4437221"/>
            <a:ext cx="5900857" cy="967859"/>
          </a:xfrm>
          <a:prstGeom prst="roundRect">
            <a:avLst>
              <a:gd name="adj" fmla="val 3034"/>
            </a:avLst>
          </a:prstGeom>
          <a:solidFill>
            <a:srgbClr val="D6D7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279" y="4701064"/>
            <a:ext cx="244673" cy="1957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7691" y="4641294"/>
            <a:ext cx="5068967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Kochi contributes the highest revenue across all channels and time periods.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386" y="1695450"/>
            <a:ext cx="1347430" cy="342424"/>
          </a:xfrm>
          <a:prstGeom prst="roundRect">
            <a:avLst>
              <a:gd name="adj" fmla="val 6849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10164" y="1761649"/>
            <a:ext cx="1097875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5386" y="2099667"/>
            <a:ext cx="4546283" cy="55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Over Time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386" y="3060978"/>
            <a:ext cx="5890260" cy="33481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1183" y="3041571"/>
            <a:ext cx="222087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Observation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61183" y="3473767"/>
            <a:ext cx="5891451" cy="78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remained stable between </a:t>
            </a:r>
            <a:pPr algn="l" indent="0" marL="0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50K–70K</a:t>
            </a:r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most of January, then spiked sharply to </a:t>
            </a:r>
            <a:pPr algn="l" indent="0" marL="0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 150K</a:t>
            </a:r>
            <a:pPr algn="l" indent="0" marL="0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month-end — confirming the effectiveness of month-end campaign pushes.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0703" y="679728"/>
            <a:ext cx="1097994" cy="457081"/>
          </a:xfrm>
          <a:prstGeom prst="roundRect">
            <a:avLst>
              <a:gd name="adj" fmla="val 6456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5841" y="761048"/>
            <a:ext cx="78771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0703" y="1234797"/>
            <a:ext cx="5589032" cy="698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60703" y="2300764"/>
            <a:ext cx="6331982" cy="2502098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0223" y="2300764"/>
            <a:ext cx="121920" cy="2502098"/>
          </a:xfrm>
          <a:prstGeom prst="roundRect">
            <a:avLst>
              <a:gd name="adj" fmla="val 30256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1228487" y="2577108"/>
            <a:ext cx="4280654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Google Ads — Consistent ROI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28487" y="3073241"/>
            <a:ext cx="5687854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Ads shows the most consistent ROI across the campaign period, making it a reliable channel for sustained investment.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7596" y="2300764"/>
            <a:ext cx="6332101" cy="2502098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7116" y="2300764"/>
            <a:ext cx="121920" cy="2502098"/>
          </a:xfrm>
          <a:prstGeom prst="roundRect">
            <a:avLst>
              <a:gd name="adj" fmla="val 30256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7805380" y="2577108"/>
            <a:ext cx="5687973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Instagram — High Engagement, Moderate Conversion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05380" y="3422452"/>
            <a:ext cx="5687973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engagement signals on Instagram are not fully converting — the funnel needs optimization to close the gap.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0703" y="5047774"/>
            <a:ext cx="6331982" cy="2502098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23" y="5047774"/>
            <a:ext cx="121920" cy="2502098"/>
          </a:xfrm>
          <a:prstGeom prst="roundRect">
            <a:avLst>
              <a:gd name="adj" fmla="val 30256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1228487" y="5324118"/>
            <a:ext cx="3800237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Kochi — Top Revenue City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28487" y="5820251"/>
            <a:ext cx="5687854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Kochi outperforms all other cities in revenue contribution, validating focused geo-targeting in this region.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437596" y="5047774"/>
            <a:ext cx="6332101" cy="2502098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7116" y="5047774"/>
            <a:ext cx="121920" cy="2502098"/>
          </a:xfrm>
          <a:prstGeom prst="roundRect">
            <a:avLst>
              <a:gd name="adj" fmla="val 30256"/>
            </a:avLst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7805380" y="5324118"/>
            <a:ext cx="5687973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Month-End Spike — Campaign Push Works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05380" y="6169462"/>
            <a:ext cx="5687973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sharp revenue surge at month-end confirms that concentrated campaign pushes drive measurable results.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93" y="700683"/>
            <a:ext cx="1080730" cy="415409"/>
          </a:xfrm>
          <a:prstGeom prst="roundRect">
            <a:avLst>
              <a:gd name="adj" fmla="val 6779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962025" y="771049"/>
            <a:ext cx="79926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STRATEGY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1293" y="1205270"/>
            <a:ext cx="7978497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Recommendations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821293" y="2206347"/>
            <a:ext cx="6382345" cy="2549723"/>
          </a:xfrm>
          <a:prstGeom prst="roundRect">
            <a:avLst>
              <a:gd name="adj" fmla="val 1381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1055846" y="2440900"/>
            <a:ext cx="703898" cy="703898"/>
          </a:xfrm>
          <a:prstGeom prst="roundRect">
            <a:avLst>
              <a:gd name="adj" fmla="val 12989219"/>
            </a:avLst>
          </a:prstGeom>
          <a:solidFill>
            <a:srgbClr val="2D2E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9442" y="2634377"/>
            <a:ext cx="316706" cy="3167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5846" y="3367802"/>
            <a:ext cx="440293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Increase Budget on Google Ads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55846" y="3835003"/>
            <a:ext cx="5913239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spend on the highest-consistency ROI channel to maximize returns.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26642" y="2206347"/>
            <a:ext cx="6382464" cy="2549723"/>
          </a:xfrm>
          <a:prstGeom prst="roundRect">
            <a:avLst>
              <a:gd name="adj" fmla="val 1381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7661196" y="2440900"/>
            <a:ext cx="703898" cy="703898"/>
          </a:xfrm>
          <a:prstGeom prst="roundRect">
            <a:avLst>
              <a:gd name="adj" fmla="val 12989219"/>
            </a:avLst>
          </a:prstGeom>
          <a:solidFill>
            <a:srgbClr val="2D2E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4791" y="2634377"/>
            <a:ext cx="316706" cy="3167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1196" y="3367802"/>
            <a:ext cx="381988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Instagram Funnel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661196" y="3835003"/>
            <a:ext cx="5913358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conversion path to capitalize on Instagram's high engagement rates.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21293" y="4979075"/>
            <a:ext cx="6382345" cy="2549723"/>
          </a:xfrm>
          <a:prstGeom prst="roundRect">
            <a:avLst>
              <a:gd name="adj" fmla="val 1381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1055846" y="5213628"/>
            <a:ext cx="703898" cy="703898"/>
          </a:xfrm>
          <a:prstGeom prst="roundRect">
            <a:avLst>
              <a:gd name="adj" fmla="val 12989219"/>
            </a:avLst>
          </a:prstGeom>
          <a:solidFill>
            <a:srgbClr val="2D2E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442" y="5407104"/>
            <a:ext cx="316706" cy="3167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5846" y="6140529"/>
            <a:ext cx="419731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Focus Geo-Targeting on Kochi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1055846" y="6607731"/>
            <a:ext cx="5913239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Concentrate budget and creative efforts on Kochi as the top-performing city.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7426642" y="4979075"/>
            <a:ext cx="6382464" cy="2549723"/>
          </a:xfrm>
          <a:prstGeom prst="roundRect">
            <a:avLst>
              <a:gd name="adj" fmla="val 1381"/>
            </a:avLst>
          </a:prstGeom>
          <a:solidFill>
            <a:srgbClr val="F2EEEE"/>
          </a:solidFill>
          <a:ln/>
        </p:spPr>
      </p:sp>
      <p:sp>
        <p:nvSpPr>
          <p:cNvPr id="21" name="Shape 16"/>
          <p:cNvSpPr/>
          <p:nvPr/>
        </p:nvSpPr>
        <p:spPr>
          <a:xfrm>
            <a:off x="7661196" y="5213628"/>
            <a:ext cx="703898" cy="703898"/>
          </a:xfrm>
          <a:prstGeom prst="roundRect">
            <a:avLst>
              <a:gd name="adj" fmla="val 12989219"/>
            </a:avLst>
          </a:prstGeom>
          <a:solidFill>
            <a:srgbClr val="2D2E3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4791" y="5407104"/>
            <a:ext cx="316706" cy="3167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61196" y="6140529"/>
            <a:ext cx="39147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 Month-End Campaigns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661196" y="6607731"/>
            <a:ext cx="5913358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major campaign pushes with month-end timing to replicate the revenue spike.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2026-04-01T12:44:51Z</dcterms:created>
  <dcterms:modified xsi:type="dcterms:W3CDTF">2026-04-01T12:44:51Z</dcterms:modified>
</cp:coreProperties>
</file>