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A3A3"/>
    <a:srgbClr val="FFFFFF"/>
    <a:srgbClr val="8D94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54" d="100"/>
          <a:sy n="54" d="100"/>
        </p:scale>
        <p:origin x="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68523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6DED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DFB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4795B7B-1575-4056-AA93-612ACDEF5C66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D265CF1-A7E2-4B13-A580-5024B018CEAA}"/>
              </a:ext>
            </a:extLst>
          </p:cNvPr>
          <p:cNvSpPr/>
          <p:nvPr/>
        </p:nvSpPr>
        <p:spPr>
          <a:xfrm>
            <a:off x="1885950" y="1794510"/>
            <a:ext cx="10687050" cy="1360168"/>
          </a:xfrm>
          <a:prstGeom prst="roundRect">
            <a:avLst/>
          </a:prstGeom>
          <a:solidFill>
            <a:schemeClr val="bg2"/>
          </a:solidFill>
          <a:ln>
            <a:noFill/>
          </a:ln>
          <a:scene3d>
            <a:camera prst="orthographicFront"/>
            <a:lightRig rig="threePt" dir="t"/>
          </a:scene3d>
          <a:sp3d>
            <a:bevelT prst="convex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2878DF-5C5E-4DCF-9F65-E3A393C6E517}"/>
              </a:ext>
            </a:extLst>
          </p:cNvPr>
          <p:cNvSpPr txBox="1"/>
          <p:nvPr/>
        </p:nvSpPr>
        <p:spPr>
          <a:xfrm>
            <a:off x="2240280" y="1921936"/>
            <a:ext cx="11932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latin typeface="Noto Serif"/>
              </a:rPr>
              <a:t>Competitors Analysis Market Research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8244C1-98D8-4997-9901-6CEBA88E2CAC}"/>
              </a:ext>
            </a:extLst>
          </p:cNvPr>
          <p:cNvSpPr txBox="1"/>
          <p:nvPr/>
        </p:nvSpPr>
        <p:spPr>
          <a:xfrm>
            <a:off x="7520940" y="3822412"/>
            <a:ext cx="3291840" cy="58477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Noto Serif"/>
              </a:rPr>
              <a:t>For</a:t>
            </a:r>
            <a:r>
              <a:rPr lang="en-US" sz="3200" dirty="0">
                <a:latin typeface="Noto Serif"/>
              </a:rPr>
              <a:t> </a:t>
            </a:r>
            <a:r>
              <a:rPr lang="en-US" sz="3200" dirty="0" err="1">
                <a:latin typeface="Noto Serif"/>
              </a:rPr>
              <a:t>HashA</a:t>
            </a:r>
            <a:endParaRPr lang="en-US" sz="3200" dirty="0">
              <a:latin typeface="Noto Serif"/>
            </a:endParaRPr>
          </a:p>
        </p:txBody>
      </p:sp>
    </p:spTree>
    <p:extLst>
      <p:ext uri="{BB962C8B-B14F-4D97-AF65-F5344CB8AC3E}">
        <p14:creationId xmlns:p14="http://schemas.microsoft.com/office/powerpoint/2010/main" val="2973912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582108"/>
            <a:ext cx="2029182" cy="426244"/>
          </a:xfrm>
          <a:prstGeom prst="roundRect">
            <a:avLst>
              <a:gd name="adj" fmla="val 17880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929878" y="2650093"/>
            <a:ext cx="175700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MARKET RESEARCH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309907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Competitor Analysis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4261366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27M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900113" y="5293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Sales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26136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1.84K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231719" y="5293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Price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26136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1.00%</a:t>
            </a:r>
            <a:endParaRPr lang="en-US" sz="5850" dirty="0"/>
          </a:p>
        </p:txBody>
      </p:sp>
      <p:sp>
        <p:nvSpPr>
          <p:cNvPr id="10" name="Text 8"/>
          <p:cNvSpPr/>
          <p:nvPr/>
        </p:nvSpPr>
        <p:spPr>
          <a:xfrm>
            <a:off x="7563326" y="5293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Market Share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4261366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5.78%</a:t>
            </a:r>
            <a:endParaRPr lang="en-US" sz="5850" dirty="0"/>
          </a:p>
        </p:txBody>
      </p:sp>
      <p:sp>
        <p:nvSpPr>
          <p:cNvPr id="12" name="Text 10"/>
          <p:cNvSpPr/>
          <p:nvPr/>
        </p:nvSpPr>
        <p:spPr>
          <a:xfrm>
            <a:off x="10894933" y="529316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 Efficiency</a:t>
            </a:r>
            <a:endParaRPr lang="en-US" sz="2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796D6A1-111A-41BD-AD00-8A7B9B121791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1030486"/>
            <a:ext cx="5572363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Total Sales by Brand</a:t>
            </a:r>
            <a:endParaRPr lang="en-US" sz="43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098" y="2301835"/>
            <a:ext cx="8305800" cy="4721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36681" y="2274451"/>
            <a:ext cx="2786182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Key Takeaway</a:t>
            </a:r>
            <a:endParaRPr lang="en-US" sz="2150" dirty="0"/>
          </a:p>
        </p:txBody>
      </p:sp>
      <p:sp>
        <p:nvSpPr>
          <p:cNvPr id="5" name="Text 2"/>
          <p:cNvSpPr/>
          <p:nvPr/>
        </p:nvSpPr>
        <p:spPr>
          <a:xfrm>
            <a:off x="9636681" y="2841665"/>
            <a:ext cx="4221123" cy="141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TrendZone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leads the market at ~5.5M in total sales.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Malabar Threads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sits at ~3.0M — a mid-tier performer with clear room to grow.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9636681" y="4452699"/>
            <a:ext cx="4221123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Cities covered: Bangalore, Kochi, Kozhikode, Thrissur, Trivandrum</a:t>
            </a:r>
            <a:endParaRPr lang="en-US" sz="17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D20CA8-7944-4BB4-AC91-B4498E22B2E1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566" y="1671757"/>
            <a:ext cx="5732145" cy="6388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Market Share by Brand</a:t>
            </a:r>
            <a:endParaRPr lang="en-US" sz="4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566" y="2877797"/>
            <a:ext cx="6347460" cy="352451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49989" y="3748224"/>
            <a:ext cx="1203851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8453" y="3788287"/>
            <a:ext cx="100223" cy="10022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67139" y="3773279"/>
            <a:ext cx="95329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TrendZone·16.63%</a:t>
            </a:r>
            <a:endParaRPr lang="en-US" sz="700" dirty="0"/>
          </a:p>
        </p:txBody>
      </p:sp>
      <p:sp>
        <p:nvSpPr>
          <p:cNvPr id="7" name="Text 3"/>
          <p:cNvSpPr/>
          <p:nvPr/>
        </p:nvSpPr>
        <p:spPr>
          <a:xfrm>
            <a:off x="5673866" y="3773279"/>
            <a:ext cx="44656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·16.63%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713929" y="3773279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4949989" y="3995389"/>
            <a:ext cx="1303030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08453" y="4035451"/>
            <a:ext cx="100223" cy="10022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7139" y="4020444"/>
            <a:ext cx="105247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UrbanWeave·14.39%</a:t>
            </a:r>
            <a:endParaRPr lang="en-US" sz="700" dirty="0"/>
          </a:p>
        </p:txBody>
      </p:sp>
      <p:sp>
        <p:nvSpPr>
          <p:cNvPr id="12" name="Text 7"/>
          <p:cNvSpPr/>
          <p:nvPr/>
        </p:nvSpPr>
        <p:spPr>
          <a:xfrm>
            <a:off x="5773045" y="4020444"/>
            <a:ext cx="44656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·14.39%</a:t>
            </a:r>
            <a:endParaRPr lang="en-US" sz="700" dirty="0"/>
          </a:p>
        </p:txBody>
      </p:sp>
      <p:sp>
        <p:nvSpPr>
          <p:cNvPr id="13" name="Text 8"/>
          <p:cNvSpPr/>
          <p:nvPr/>
        </p:nvSpPr>
        <p:spPr>
          <a:xfrm>
            <a:off x="5813108" y="4020444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4" name="Shape 9"/>
          <p:cNvSpPr/>
          <p:nvPr/>
        </p:nvSpPr>
        <p:spPr>
          <a:xfrm>
            <a:off x="4949989" y="4242553"/>
            <a:ext cx="1202024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8453" y="4282616"/>
            <a:ext cx="100223" cy="100223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167139" y="4267609"/>
            <a:ext cx="95146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UrbanRoots·9.56%</a:t>
            </a:r>
            <a:endParaRPr lang="en-US" sz="700" dirty="0"/>
          </a:p>
        </p:txBody>
      </p:sp>
      <p:sp>
        <p:nvSpPr>
          <p:cNvPr id="17" name="Text 11"/>
          <p:cNvSpPr/>
          <p:nvPr/>
        </p:nvSpPr>
        <p:spPr>
          <a:xfrm>
            <a:off x="5729459" y="4267609"/>
            <a:ext cx="38914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·9.56%</a:t>
            </a:r>
            <a:endParaRPr lang="en-US" sz="700" dirty="0"/>
          </a:p>
        </p:txBody>
      </p:sp>
      <p:sp>
        <p:nvSpPr>
          <p:cNvPr id="18" name="Text 12"/>
          <p:cNvSpPr/>
          <p:nvPr/>
        </p:nvSpPr>
        <p:spPr>
          <a:xfrm>
            <a:off x="5769522" y="4267609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19" name="Shape 13"/>
          <p:cNvSpPr/>
          <p:nvPr/>
        </p:nvSpPr>
        <p:spPr>
          <a:xfrm>
            <a:off x="4949989" y="4489718"/>
            <a:ext cx="1062260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8453" y="4529781"/>
            <a:ext cx="100223" cy="10022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167139" y="4514774"/>
            <a:ext cx="81170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StyleHub·9.03%</a:t>
            </a:r>
            <a:endParaRPr lang="en-US" sz="700" dirty="0"/>
          </a:p>
        </p:txBody>
      </p:sp>
      <p:sp>
        <p:nvSpPr>
          <p:cNvPr id="22" name="Text 15"/>
          <p:cNvSpPr/>
          <p:nvPr/>
        </p:nvSpPr>
        <p:spPr>
          <a:xfrm>
            <a:off x="5589695" y="4514774"/>
            <a:ext cx="38914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·9.03%</a:t>
            </a:r>
            <a:endParaRPr lang="en-US" sz="700" dirty="0"/>
          </a:p>
        </p:txBody>
      </p:sp>
      <p:sp>
        <p:nvSpPr>
          <p:cNvPr id="23" name="Text 16"/>
          <p:cNvSpPr/>
          <p:nvPr/>
        </p:nvSpPr>
        <p:spPr>
          <a:xfrm>
            <a:off x="5629758" y="4514774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4949989" y="4736882"/>
            <a:ext cx="1433790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08453" y="4776946"/>
            <a:ext cx="100223" cy="100223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167139" y="4761938"/>
            <a:ext cx="1183232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Malabar Threads·8.47%</a:t>
            </a:r>
            <a:endParaRPr lang="en-US" sz="700" dirty="0"/>
          </a:p>
        </p:txBody>
      </p:sp>
      <p:sp>
        <p:nvSpPr>
          <p:cNvPr id="27" name="Text 19"/>
          <p:cNvSpPr/>
          <p:nvPr/>
        </p:nvSpPr>
        <p:spPr>
          <a:xfrm>
            <a:off x="5961225" y="4761938"/>
            <a:ext cx="38914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·8.47%</a:t>
            </a:r>
            <a:endParaRPr lang="en-US" sz="700" dirty="0"/>
          </a:p>
        </p:txBody>
      </p:sp>
      <p:sp>
        <p:nvSpPr>
          <p:cNvPr id="28" name="Text 20"/>
          <p:cNvSpPr/>
          <p:nvPr/>
        </p:nvSpPr>
        <p:spPr>
          <a:xfrm>
            <a:off x="6001288" y="4761938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29" name="Shape 21"/>
          <p:cNvSpPr/>
          <p:nvPr/>
        </p:nvSpPr>
        <p:spPr>
          <a:xfrm>
            <a:off x="4949989" y="4984047"/>
            <a:ext cx="1151130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8453" y="5024110"/>
            <a:ext cx="100223" cy="100223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167139" y="5009103"/>
            <a:ext cx="900572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EthnicAura·7.83%</a:t>
            </a:r>
            <a:endParaRPr lang="en-US" sz="700" dirty="0"/>
          </a:p>
        </p:txBody>
      </p:sp>
      <p:sp>
        <p:nvSpPr>
          <p:cNvPr id="32" name="Text 23"/>
          <p:cNvSpPr/>
          <p:nvPr/>
        </p:nvSpPr>
        <p:spPr>
          <a:xfrm>
            <a:off x="5678564" y="5009103"/>
            <a:ext cx="38914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·7.83%</a:t>
            </a:r>
            <a:endParaRPr lang="en-US" sz="700" dirty="0"/>
          </a:p>
        </p:txBody>
      </p:sp>
      <p:sp>
        <p:nvSpPr>
          <p:cNvPr id="33" name="Text 24"/>
          <p:cNvSpPr/>
          <p:nvPr/>
        </p:nvSpPr>
        <p:spPr>
          <a:xfrm>
            <a:off x="5718627" y="5009103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4" name="Shape 25"/>
          <p:cNvSpPr/>
          <p:nvPr/>
        </p:nvSpPr>
        <p:spPr>
          <a:xfrm>
            <a:off x="4949989" y="5231212"/>
            <a:ext cx="1019456" cy="180349"/>
          </a:xfrm>
          <a:prstGeom prst="roundRect">
            <a:avLst>
              <a:gd name="adj" fmla="val 70982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8453" y="5271275"/>
            <a:ext cx="100223" cy="100223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5167139" y="5256268"/>
            <a:ext cx="768899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Others·34.08%</a:t>
            </a:r>
            <a:endParaRPr lang="en-US" sz="700" dirty="0"/>
          </a:p>
        </p:txBody>
      </p:sp>
      <p:sp>
        <p:nvSpPr>
          <p:cNvPr id="37" name="Text 27"/>
          <p:cNvSpPr/>
          <p:nvPr/>
        </p:nvSpPr>
        <p:spPr>
          <a:xfrm>
            <a:off x="5489471" y="5256268"/>
            <a:ext cx="446567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·34.08%</a:t>
            </a:r>
            <a:endParaRPr lang="en-US" sz="700" dirty="0"/>
          </a:p>
        </p:txBody>
      </p:sp>
      <p:sp>
        <p:nvSpPr>
          <p:cNvPr id="38" name="Text 28"/>
          <p:cNvSpPr/>
          <p:nvPr/>
        </p:nvSpPr>
        <p:spPr>
          <a:xfrm>
            <a:off x="5529535" y="5256268"/>
            <a:ext cx="26883" cy="13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·</a:t>
            </a:r>
            <a:endParaRPr lang="en-US" sz="700" dirty="0"/>
          </a:p>
        </p:txBody>
      </p:sp>
      <p:sp>
        <p:nvSpPr>
          <p:cNvPr id="39" name="Text 29"/>
          <p:cNvSpPr/>
          <p:nvPr/>
        </p:nvSpPr>
        <p:spPr>
          <a:xfrm>
            <a:off x="7572137" y="2771180"/>
            <a:ext cx="2887504" cy="319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Competitive Landscape</a:t>
            </a:r>
            <a:endParaRPr lang="en-US" sz="2000" dirty="0"/>
          </a:p>
        </p:txBody>
      </p:sp>
      <p:sp>
        <p:nvSpPr>
          <p:cNvPr id="40" name="Text 30"/>
          <p:cNvSpPr/>
          <p:nvPr/>
        </p:nvSpPr>
        <p:spPr>
          <a:xfrm>
            <a:off x="7572137" y="3274695"/>
            <a:ext cx="6350318" cy="9326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TrendZone holds </a:t>
            </a: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18.3%</a:t>
            </a: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market share — the clear leader. Malabar Threads holds </a:t>
            </a: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9.32%</a:t>
            </a: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positioned in the mid-tier among 8 tracked brands.</a:t>
            </a:r>
            <a:endParaRPr lang="en-US" sz="1600" dirty="0"/>
          </a:p>
        </p:txBody>
      </p:sp>
      <p:sp>
        <p:nvSpPr>
          <p:cNvPr id="41" name="Text 31"/>
          <p:cNvSpPr/>
          <p:nvPr/>
        </p:nvSpPr>
        <p:spPr>
          <a:xfrm>
            <a:off x="7572137" y="4373047"/>
            <a:ext cx="6350318" cy="621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 segments span </a:t>
            </a: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Mass, Mid,</a:t>
            </a: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and </a:t>
            </a:r>
            <a:r>
              <a:rPr lang="en-US" sz="16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Premium</a:t>
            </a: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tiers across all brands.</a:t>
            </a:r>
            <a:endParaRPr lang="en-US" sz="16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15E5197-2D91-4303-9676-4626C36FB37C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0098" y="1030486"/>
            <a:ext cx="6401038" cy="696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Avg Price vs. Total Sales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780098" y="2301835"/>
            <a:ext cx="1207790" cy="235991"/>
          </a:xfrm>
          <a:prstGeom prst="roundRect">
            <a:avLst>
              <a:gd name="adj" fmla="val 5424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598" y="2354259"/>
            <a:ext cx="131144" cy="1311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31457" y="2334621"/>
            <a:ext cx="879930" cy="170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00" dirty="0">
                <a:solidFill>
                  <a:srgbClr val="4C4C4C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Total Sales (M)</a:t>
            </a:r>
            <a:endParaRPr lang="en-US" sz="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98" y="2647113"/>
            <a:ext cx="8305800" cy="43714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36681" y="2274451"/>
            <a:ext cx="3546872" cy="3482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Price-Performance Insight</a:t>
            </a:r>
            <a:endParaRPr lang="en-US" sz="2150" dirty="0"/>
          </a:p>
        </p:txBody>
      </p:sp>
      <p:sp>
        <p:nvSpPr>
          <p:cNvPr id="8" name="Text 4"/>
          <p:cNvSpPr/>
          <p:nvPr/>
        </p:nvSpPr>
        <p:spPr>
          <a:xfrm>
            <a:off x="9636681" y="2841665"/>
            <a:ext cx="4221123" cy="14139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Higher average price (~1.8K) correlates with slightly lower total sales (~27M), suggesting </a:t>
            </a:r>
            <a:r>
              <a:rPr lang="en-US" sz="175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volume trade-offs at premium price points</a:t>
            </a: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9636681" y="4452699"/>
            <a:ext cx="4221123" cy="706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Categories tracked: Western Wear, Ethnic Wear, Accessories, Fusion Wear</a:t>
            </a:r>
            <a:endParaRPr lang="en-US" sz="175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C800A5F-9FD4-47BB-9D2C-CF98A5FD0905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79947"/>
            <a:ext cx="1655088" cy="441484"/>
          </a:xfrm>
          <a:prstGeom prst="roundRect">
            <a:avLst>
              <a:gd name="adj" fmla="val 17263"/>
            </a:avLst>
          </a:prstGeom>
          <a:noFill/>
          <a:ln w="7620">
            <a:solidFill>
              <a:srgbClr val="9C928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37498" y="1555552"/>
            <a:ext cx="136767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9C9283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DEEP INSIGHTS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012156"/>
            <a:ext cx="617612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What the Data Tells Us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3061097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63310" y="306109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7" name="Text 5"/>
          <p:cNvSpPr/>
          <p:nvPr/>
        </p:nvSpPr>
        <p:spPr>
          <a:xfrm>
            <a:off x="1142524" y="3318391"/>
            <a:ext cx="50083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Premium Brands Dominate Revenue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808809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Customers are willing to pay premium — high-end positioning drives stronger sales.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3061097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98067" y="3061097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1" name="Text 9"/>
          <p:cNvSpPr/>
          <p:nvPr/>
        </p:nvSpPr>
        <p:spPr>
          <a:xfrm>
            <a:off x="7777282" y="3318391"/>
            <a:ext cx="51644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Malabar Threads: Stuck in the Middle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777282" y="3808809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Not strongly positioned — lacks clear identity between mid and premium tiers.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93790" y="5018723"/>
            <a:ext cx="6407944" cy="1730812"/>
          </a:xfrm>
          <a:prstGeom prst="roundRect">
            <a:avLst>
              <a:gd name="adj" fmla="val 845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63310" y="501872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5" name="Text 13"/>
          <p:cNvSpPr/>
          <p:nvPr/>
        </p:nvSpPr>
        <p:spPr>
          <a:xfrm>
            <a:off x="1142524" y="5276017"/>
            <a:ext cx="32874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Ad Spend ≠ High Return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42524" y="5766435"/>
            <a:ext cx="58019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Some brands spend less but outperform. ROI focus over raw budget is critical.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7428548" y="5018723"/>
            <a:ext cx="6408063" cy="1730812"/>
          </a:xfrm>
          <a:prstGeom prst="roundRect">
            <a:avLst>
              <a:gd name="adj" fmla="val 8453"/>
            </a:avLst>
          </a:prstGeom>
          <a:solidFill>
            <a:srgbClr val="FDFBF7"/>
          </a:solidFill>
          <a:ln w="30480">
            <a:solidFill>
              <a:srgbClr val="E6DED2"/>
            </a:solidFill>
            <a:prstDash val="solid"/>
          </a:ln>
          <a:effectLst>
            <a:outerShdw dist="29210" dir="2700000" algn="bl" rotWithShape="0">
              <a:srgbClr val="E6DED2">
                <a:alpha val="10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98067" y="5018723"/>
            <a:ext cx="121920" cy="1730812"/>
          </a:xfrm>
          <a:prstGeom prst="roundRect">
            <a:avLst>
              <a:gd name="adj" fmla="val 78139"/>
            </a:avLst>
          </a:prstGeom>
          <a:solidFill>
            <a:srgbClr val="E6DED2"/>
          </a:solidFill>
          <a:ln/>
        </p:spPr>
      </p:sp>
      <p:sp>
        <p:nvSpPr>
          <p:cNvPr id="19" name="Text 17"/>
          <p:cNvSpPr/>
          <p:nvPr/>
        </p:nvSpPr>
        <p:spPr>
          <a:xfrm>
            <a:off x="7777282" y="5276017"/>
            <a:ext cx="45802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Digital Presence is the Key Driver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777282" y="5766435"/>
            <a:ext cx="58020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Online sales are growing in importance. Accessories remain low-revenue across brands.</a:t>
            </a:r>
            <a:endParaRPr lang="en-US" sz="175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3A1E573-8BF5-41FA-B7A5-F3C3EB3FC265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74483" y="490657"/>
            <a:ext cx="863679" cy="284321"/>
          </a:xfrm>
          <a:prstGeom prst="roundRect">
            <a:avLst>
              <a:gd name="adj" fmla="val 19664"/>
            </a:avLst>
          </a:prstGeom>
          <a:solidFill>
            <a:srgbClr val="E8E6E3"/>
          </a:solidFill>
          <a:ln/>
        </p:spPr>
      </p:sp>
      <p:sp>
        <p:nvSpPr>
          <p:cNvPr id="3" name="Text 1"/>
          <p:cNvSpPr/>
          <p:nvPr/>
        </p:nvSpPr>
        <p:spPr>
          <a:xfrm>
            <a:off x="1674257" y="540544"/>
            <a:ext cx="664131" cy="1845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STRATEGY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574483" y="823793"/>
            <a:ext cx="7473910" cy="519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Malabar Threads: Strategic Roadmap</a:t>
            </a:r>
            <a:endParaRPr lang="en-US" sz="3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483" y="1526738"/>
            <a:ext cx="11481435" cy="561344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79787" y="4513291"/>
            <a:ext cx="356094" cy="35609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46362" y="1970262"/>
            <a:ext cx="2477481" cy="6378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Reposition to Premium</a:t>
            </a:r>
            <a:endParaRPr lang="en-US" sz="2000" dirty="0"/>
          </a:p>
        </p:txBody>
      </p:sp>
      <p:sp>
        <p:nvSpPr>
          <p:cNvPr id="8" name="Text 4"/>
          <p:cNvSpPr/>
          <p:nvPr/>
        </p:nvSpPr>
        <p:spPr>
          <a:xfrm>
            <a:off x="1846362" y="2698870"/>
            <a:ext cx="2477481" cy="663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Slight price increase; align with premium perception</a:t>
            </a:r>
            <a:endParaRPr lang="en-US" sz="16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83802" y="4513291"/>
            <a:ext cx="356094" cy="35609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296943" y="1970262"/>
            <a:ext cx="2477480" cy="3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Digital Expansion</a:t>
            </a:r>
            <a:endParaRPr lang="en-US" sz="2000" dirty="0"/>
          </a:p>
        </p:txBody>
      </p:sp>
      <p:sp>
        <p:nvSpPr>
          <p:cNvPr id="11" name="Text 6"/>
          <p:cNvSpPr/>
          <p:nvPr/>
        </p:nvSpPr>
        <p:spPr>
          <a:xfrm>
            <a:off x="10296943" y="2379927"/>
            <a:ext cx="2477480" cy="44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Instagram, influencers, and website optimization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7817" y="4513291"/>
            <a:ext cx="356094" cy="35609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46362" y="4923323"/>
            <a:ext cx="2477481" cy="3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ROI-Focused Ads</a:t>
            </a:r>
            <a:endParaRPr lang="en-US" sz="2000" dirty="0"/>
          </a:p>
        </p:txBody>
      </p:sp>
      <p:sp>
        <p:nvSpPr>
          <p:cNvPr id="14" name="Text 8"/>
          <p:cNvSpPr/>
          <p:nvPr/>
        </p:nvSpPr>
        <p:spPr>
          <a:xfrm>
            <a:off x="1846362" y="5332988"/>
            <a:ext cx="2477481" cy="44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Target high-performing audiences and retarget</a:t>
            </a:r>
            <a:endParaRPr lang="en-US" sz="16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803097" y="4513291"/>
            <a:ext cx="356095" cy="35609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285425" y="4923323"/>
            <a:ext cx="2477480" cy="318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Product Focus</a:t>
            </a:r>
            <a:endParaRPr lang="en-US" sz="2000" dirty="0"/>
          </a:p>
        </p:txBody>
      </p:sp>
      <p:sp>
        <p:nvSpPr>
          <p:cNvPr id="17" name="Text 10"/>
          <p:cNvSpPr/>
          <p:nvPr/>
        </p:nvSpPr>
        <p:spPr>
          <a:xfrm>
            <a:off x="10285425" y="5332988"/>
            <a:ext cx="2477480" cy="442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6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Ethnic &amp; Fusion trend-led seasonal collections</a:t>
            </a:r>
            <a:endParaRPr lang="en-US" sz="1600" dirty="0"/>
          </a:p>
        </p:txBody>
      </p:sp>
      <p:sp>
        <p:nvSpPr>
          <p:cNvPr id="18" name="Text 11"/>
          <p:cNvSpPr/>
          <p:nvPr/>
        </p:nvSpPr>
        <p:spPr>
          <a:xfrm>
            <a:off x="1574483" y="7277457"/>
            <a:ext cx="11481435" cy="4614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Malabar Threads must commit to a </a:t>
            </a:r>
            <a:r>
              <a:rPr lang="en-US" sz="13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premium positioning</a:t>
            </a: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, invest in </a:t>
            </a:r>
            <a:r>
              <a:rPr lang="en-US" sz="13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digital channels</a:t>
            </a: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with ROI discipline, and lead with </a:t>
            </a:r>
            <a:r>
              <a:rPr lang="en-US" sz="1300" b="1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Ethnic and Fusion</a:t>
            </a:r>
            <a:r>
              <a:rPr lang="en-US" sz="1300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 product lines to capture growing market demand.</a:t>
            </a:r>
            <a:endParaRPr lang="en-US" sz="13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880CAC2-DE45-40E9-BC64-4EFE4285D951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BB0CD1-C9B6-46BE-83C4-04257976A749}"/>
              </a:ext>
            </a:extLst>
          </p:cNvPr>
          <p:cNvSpPr/>
          <p:nvPr/>
        </p:nvSpPr>
        <p:spPr>
          <a:xfrm>
            <a:off x="12744450" y="7795260"/>
            <a:ext cx="1788556" cy="3543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lnSpc>
                <a:spcPts val="2750"/>
              </a:lnSpc>
            </a:pPr>
            <a:r>
              <a:rPr lang="en-US" dirty="0" err="1">
                <a:solidFill>
                  <a:srgbClr val="4C4C4C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SandhyaSN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CFB502-352E-4950-B9C3-351700093988}"/>
              </a:ext>
            </a:extLst>
          </p:cNvPr>
          <p:cNvSpPr/>
          <p:nvPr/>
        </p:nvSpPr>
        <p:spPr>
          <a:xfrm>
            <a:off x="1375289" y="670296"/>
            <a:ext cx="2971079" cy="618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4050"/>
              </a:lnSpc>
            </a:pPr>
            <a:r>
              <a:rPr lang="en-US" sz="4000" b="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Conclusion</a:t>
            </a:r>
            <a:endParaRPr lang="en-US" sz="40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4BB343-6464-4423-B0FD-C11ADBBD3AAB}"/>
              </a:ext>
            </a:extLst>
          </p:cNvPr>
          <p:cNvSpPr/>
          <p:nvPr/>
        </p:nvSpPr>
        <p:spPr>
          <a:xfrm>
            <a:off x="1375289" y="1931680"/>
            <a:ext cx="8766238" cy="365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ts val="2750"/>
              </a:lnSpc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</a:rPr>
              <a:t>Digital presence is the key growth driver.</a:t>
            </a:r>
          </a:p>
          <a:p>
            <a:pPr>
              <a:lnSpc>
                <a:spcPts val="2750"/>
              </a:lnSpc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</a:rPr>
              <a:t>Premium Brands dominate Revenue.</a:t>
            </a:r>
          </a:p>
          <a:p>
            <a:pPr>
              <a:lnSpc>
                <a:spcPts val="2750"/>
              </a:lnSpc>
            </a:pPr>
            <a:endParaRPr lang="en-US" dirty="0">
              <a:solidFill>
                <a:srgbClr val="4C4C4C"/>
              </a:solidFill>
              <a:latin typeface="Noto Serif" pitchFamily="34" charset="0"/>
              <a:ea typeface="Noto Serif" pitchFamily="34" charset="-122"/>
            </a:endParaRPr>
          </a:p>
          <a:p>
            <a:pPr>
              <a:lnSpc>
                <a:spcPts val="2750"/>
              </a:lnSpc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</a:rPr>
              <a:t>Digital Expansion can increase the online sales percentage.</a:t>
            </a:r>
          </a:p>
          <a:p>
            <a:pPr>
              <a:lnSpc>
                <a:spcPts val="2750"/>
              </a:lnSpc>
            </a:pPr>
            <a:r>
              <a:rPr lang="en-US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</a:rPr>
              <a:t>Starting with Instagram marketing, influencer campaigns and website optimization as primary actions preferred.</a:t>
            </a:r>
          </a:p>
          <a:p>
            <a:pPr>
              <a:lnSpc>
                <a:spcPts val="2750"/>
              </a:lnSpc>
            </a:pPr>
            <a:endParaRPr lang="en-US" dirty="0">
              <a:solidFill>
                <a:srgbClr val="4C4C4C"/>
              </a:solidFill>
              <a:latin typeface="Noto Serif" pitchFamily="34" charset="0"/>
              <a:ea typeface="Noto Serif" pitchFamily="34" charset="-122"/>
            </a:endParaRPr>
          </a:p>
          <a:p>
            <a:pPr>
              <a:lnSpc>
                <a:spcPts val="2750"/>
              </a:lnSpc>
            </a:pPr>
            <a:endParaRPr lang="en-US" dirty="0">
              <a:solidFill>
                <a:srgbClr val="4C4C4C"/>
              </a:solidFill>
              <a:latin typeface="Noto Serif" pitchFamily="34" charset="0"/>
              <a:ea typeface="Noto Serif" pitchFamily="34" charset="-122"/>
            </a:endParaRPr>
          </a:p>
          <a:p>
            <a:pPr>
              <a:lnSpc>
                <a:spcPts val="2750"/>
              </a:lnSpc>
            </a:pPr>
            <a:endParaRPr lang="en-US" dirty="0">
              <a:solidFill>
                <a:srgbClr val="4C4C4C"/>
              </a:solidFill>
              <a:latin typeface="Noto Serif" pitchFamily="34" charset="0"/>
              <a:ea typeface="Noto Serif" pitchFamily="34" charset="-122"/>
            </a:endParaRPr>
          </a:p>
          <a:p>
            <a:pPr>
              <a:lnSpc>
                <a:spcPts val="2750"/>
              </a:lnSpc>
            </a:pPr>
            <a:endParaRPr lang="en-US" dirty="0"/>
          </a:p>
        </p:txBody>
      </p:sp>
      <p:sp>
        <p:nvSpPr>
          <p:cNvPr id="5" name="Flowchart: Decision 4">
            <a:extLst>
              <a:ext uri="{FF2B5EF4-FFF2-40B4-BE49-F238E27FC236}">
                <a16:creationId xmlns:a16="http://schemas.microsoft.com/office/drawing/2014/main" id="{B4E234CB-6EE3-4DE1-A950-AEB0B5F8F902}"/>
              </a:ext>
            </a:extLst>
          </p:cNvPr>
          <p:cNvSpPr/>
          <p:nvPr/>
        </p:nvSpPr>
        <p:spPr>
          <a:xfrm>
            <a:off x="6709558" y="7006443"/>
            <a:ext cx="1567543" cy="128846"/>
          </a:xfrm>
          <a:prstGeom prst="flowChartDecision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301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427</Words>
  <Application>Microsoft Office PowerPoint</Application>
  <PresentationFormat>Custom</PresentationFormat>
  <Paragraphs>89</Paragraphs>
  <Slides>8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-apple-system, BlinkMacSystemFont, Segoe UI, Roboto, Helvetica Neue, Arial, sans-serif Medium</vt:lpstr>
      <vt:lpstr>Arial</vt:lpstr>
      <vt:lpstr>Calibri</vt:lpstr>
      <vt:lpstr>Noto Serif</vt:lpstr>
      <vt:lpstr>Noto Serif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SandhyaSaraswathy</dc:creator>
  <cp:lastModifiedBy>NewUser123</cp:lastModifiedBy>
  <cp:revision>7</cp:revision>
  <dcterms:created xsi:type="dcterms:W3CDTF">2026-04-01T06:07:27Z</dcterms:created>
  <dcterms:modified xsi:type="dcterms:W3CDTF">2026-04-01T12:07:20Z</dcterms:modified>
</cp:coreProperties>
</file>